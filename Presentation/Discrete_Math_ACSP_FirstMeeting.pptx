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9860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5029200"/>
            <a:ext cx="2926080" cy="16459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5349240"/>
            <a:ext cx="2377440" cy="1645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5669280"/>
            <a:ext cx="1828800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02920"/>
            <a:ext cx="2103120" cy="365760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DMath_CC_25 · ACSP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FIRST-MEETING ORIENTATION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 Mathematics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for Computer Science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Iismail Bouiishak· Zouhair El Hadiq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49560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Professors of Mathematics &amp; Computer Science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— let's set the stage for the semester.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professors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40233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240280"/>
            <a:ext cx="914400" cy="91440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103120" y="2286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Ismail Bouishak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10312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— Discrete Math &amp; CS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60120" y="3520440"/>
            <a:ext cx="44348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37033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foundations of computing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Interests: logic, combinatorics, algorithms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zouhairelhadiq@gmail.com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55080" y="1828800"/>
            <a:ext cx="525780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828800"/>
            <a:ext cx="73152" cy="40233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Shape 11"/>
          <p:cNvSpPr/>
          <p:nvPr/>
        </p:nvSpPr>
        <p:spPr>
          <a:xfrm>
            <a:off x="6766560" y="2240280"/>
            <a:ext cx="914400" cy="91440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4688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909560" y="2286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Georgia" pitchFamily="34" charset="0"/>
              </a:rPr>
              <a:t>El Hadiq Zouhair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790956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— Discrete Math &amp; CS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766560" y="3520440"/>
            <a:ext cx="44348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0" y="37033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foundations of computing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Interests: graph theory, formal methods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Co-instructor for this module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instructors, one shared course — feel free to reach out to either of us.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discrete math is the language of CS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are discrete machines: bits, states, and steps. Discrete mathematics gives you the vocabulary and tools to reason about them rigorously — before you write a single line of 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5417820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23160"/>
            <a:ext cx="541782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743200"/>
            <a:ext cx="640080" cy="640080"/>
          </a:xfrm>
          <a:prstGeom prst="ellipse">
            <a:avLst/>
          </a:prstGeom>
          <a:solidFill>
            <a:srgbClr val="ECFEFF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8803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2788920"/>
            <a:ext cx="4229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Algorithms &amp; Complexity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3520440"/>
            <a:ext cx="477774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correctness and efficiency. Big-O, recursion, induction.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95060" y="2423160"/>
            <a:ext cx="5417820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95060" y="2423160"/>
            <a:ext cx="541782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5100" y="2743200"/>
            <a:ext cx="640080" cy="640080"/>
          </a:xfrm>
          <a:prstGeom prst="ellipse">
            <a:avLst/>
          </a:prstGeom>
          <a:solidFill>
            <a:srgbClr val="ECFEFF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260" y="288036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2340" y="2788920"/>
            <a:ext cx="4229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Logic &amp; Verification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515100" y="3520440"/>
            <a:ext cx="477774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logic powers circuits, proofs, and program correctness.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4366260"/>
            <a:ext cx="5417820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" y="4366260"/>
            <a:ext cx="541782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868680" y="4686300"/>
            <a:ext cx="640080" cy="640080"/>
          </a:xfrm>
          <a:prstGeom prst="ellipse">
            <a:avLst/>
          </a:prstGeom>
          <a:solidFill>
            <a:srgbClr val="ECFEFF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82346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4732020"/>
            <a:ext cx="4229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Graphs &amp; Networks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68680" y="5463540"/>
            <a:ext cx="477774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web, social graphs, routing, and dependencies.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195060" y="4366260"/>
            <a:ext cx="5417820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195060" y="4366260"/>
            <a:ext cx="541782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Shape 20"/>
          <p:cNvSpPr/>
          <p:nvPr/>
        </p:nvSpPr>
        <p:spPr>
          <a:xfrm>
            <a:off x="6515100" y="4686300"/>
            <a:ext cx="640080" cy="640080"/>
          </a:xfrm>
          <a:prstGeom prst="ellipse">
            <a:avLst/>
          </a:prstGeom>
          <a:solidFill>
            <a:srgbClr val="ECFEFF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482346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292340" y="4732020"/>
            <a:ext cx="4229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Cryptography &amp; Security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6515100" y="5463540"/>
            <a:ext cx="477774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arithmetic, number theory and combinatorics under the hood.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ROADMAP — DMath_CC_25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sequences across the semester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9659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4688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of Logic — Part 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3200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Propositions, logical connectives and equivalences.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56432" y="1691640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30752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2" y="19659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30752" y="24688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of Logic — Part 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730752" y="3108960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3730752" y="3200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logic, quantifiers and rules of inference.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364224" y="1691640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38544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2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196596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38544" y="24688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 Structures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638544" y="3108960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6"/>
          <p:cNvSpPr/>
          <p:nvPr/>
        </p:nvSpPr>
        <p:spPr>
          <a:xfrm>
            <a:off x="6638544" y="3200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Sets, relations, functions, sequences and series.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272016" y="1691640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546336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2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75136" y="1965960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546336" y="24688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Proofs &amp; Recursion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9546336" y="3108960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1"/>
          <p:cNvSpPr/>
          <p:nvPr/>
        </p:nvSpPr>
        <p:spPr>
          <a:xfrm>
            <a:off x="9546336" y="3200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techniques, induction, recursive definitions.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002536" y="4096512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2276856" y="4325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2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5656" y="4370832"/>
            <a:ext cx="411480" cy="4114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2276856" y="487375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Counting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2276856" y="5513832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26"/>
          <p:cNvSpPr/>
          <p:nvPr/>
        </p:nvSpPr>
        <p:spPr>
          <a:xfrm>
            <a:off x="2276856" y="56052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Permutations, combinations, binomial identities.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910328" y="4096512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184648" y="4325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200" dirty="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4370832"/>
            <a:ext cx="411480" cy="411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184648" y="487375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Graphs — Part 1</a:t>
            </a:r>
            <a:endParaRPr lang="en-US" sz="1400" dirty="0"/>
          </a:p>
        </p:txBody>
      </p:sp>
      <p:sp>
        <p:nvSpPr>
          <p:cNvPr id="38" name="Shape 30"/>
          <p:cNvSpPr/>
          <p:nvPr/>
        </p:nvSpPr>
        <p:spPr>
          <a:xfrm>
            <a:off x="5184648" y="5513832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1"/>
          <p:cNvSpPr/>
          <p:nvPr/>
        </p:nvSpPr>
        <p:spPr>
          <a:xfrm>
            <a:off x="5184648" y="56052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Vertices, edges, special graphs and properties.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7818120" y="4096512"/>
            <a:ext cx="27889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092440" y="4325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1240" y="4370832"/>
            <a:ext cx="411480" cy="41148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092440" y="487375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Graphs — Part 2</a:t>
            </a:r>
            <a:endParaRPr lang="en-US" sz="1400" dirty="0"/>
          </a:p>
        </p:txBody>
      </p:sp>
      <p:sp>
        <p:nvSpPr>
          <p:cNvPr id="44" name="Shape 35"/>
          <p:cNvSpPr/>
          <p:nvPr/>
        </p:nvSpPr>
        <p:spPr>
          <a:xfrm>
            <a:off x="8092440" y="5513832"/>
            <a:ext cx="320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5" name="Text 36"/>
          <p:cNvSpPr/>
          <p:nvPr/>
        </p:nvSpPr>
        <p:spPr>
          <a:xfrm>
            <a:off x="8092440" y="56052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Isomorphism, shortest paths, TSP &amp; Chinese Postman.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900" dirty="0"/>
          </a:p>
        </p:txBody>
      </p:sp>
      <p:sp>
        <p:nvSpPr>
          <p:cNvPr id="48" name="Text 39"/>
          <p:cNvSpPr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WE WILL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theory to working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move between blackboard math and live code. Every concept we prove, we will also try to compute, simulate, or visualize.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35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35680" cy="4572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286000"/>
            <a:ext cx="280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9280" y="3063240"/>
            <a:ext cx="914400" cy="914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4114800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readable language used everywhere in modern computing — our default playground.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12920" y="2286000"/>
            <a:ext cx="3535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12920" y="2286000"/>
            <a:ext cx="3535680" cy="4572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7240" y="23774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53000" y="2286000"/>
            <a:ext cx="280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SymPy</a:t>
            </a:r>
            <a:endParaRPr lang="en-US" sz="16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063240"/>
            <a:ext cx="914400" cy="9144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87240" y="4114800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Symbolic math in Python: simplification, equations, modular arithmetic, combinatorics.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077200" y="2286000"/>
            <a:ext cx="3535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077200" y="2286000"/>
            <a:ext cx="3535680" cy="4572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520" y="237744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717280" y="2286000"/>
            <a:ext cx="280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Jupyter Notebooks</a:t>
            </a:r>
            <a:endParaRPr lang="en-US" sz="16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7840" y="3063240"/>
            <a:ext cx="914400" cy="9144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351520" y="4114800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code, math (LaTeX), and explanations in a single document — perfect for our exercises.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solidFill>
            <a:srgbClr val="ECFEFF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440680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371600" y="53492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combo?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1371600" y="56692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mirrors how a modern engineer or researcher actually works: write the proof, run the simulation, share the notebook.</a:t>
            </a:r>
            <a:endParaRPr lang="en-US" sz="1200" dirty="0"/>
          </a:p>
        </p:txBody>
      </p:sp>
      <p:sp>
        <p:nvSpPr>
          <p:cNvPr id="27" name="Shape 1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SEQUENCE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weekly rhythm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· Read · Practice · Apply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sequence follows the same four-step pattern. Lab assignments are Jupyter notebooks — you submit the .ipynb file before the deadline.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89864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the lecture video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30449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opens with a short video introducing the concept.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6758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3520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lecture notes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88720" y="3822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notes with examples and worked exercises.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343400"/>
            <a:ext cx="502920" cy="5029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4531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the unit quiz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188720" y="45994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auto-graded quiz to reinforce your understanding.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120640"/>
            <a:ext cx="502920" cy="5029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23036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88720" y="5074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the Lab (.ipynb)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88720" y="53766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lab notebook in Python / SymPy and upload before the deadline.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766560" y="1691640"/>
            <a:ext cx="4846320" cy="4206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Shape 17"/>
          <p:cNvSpPr/>
          <p:nvPr/>
        </p:nvSpPr>
        <p:spPr>
          <a:xfrm>
            <a:off x="6766560" y="1691640"/>
            <a:ext cx="4846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18"/>
          <p:cNvSpPr/>
          <p:nvPr/>
        </p:nvSpPr>
        <p:spPr>
          <a:xfrm>
            <a:off x="7132320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Grading at a glance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7132320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final weighting will be confirmed.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13232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assignments (.ipynb)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332720" y="2834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7132320" y="3218688"/>
            <a:ext cx="41148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32320" y="3429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quizzes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1033272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7132320" y="3813048"/>
            <a:ext cx="41148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132320" y="4023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1033272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7132320" y="4407408"/>
            <a:ext cx="41148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32320" y="4617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10332720" y="4617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5%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7132320" y="5001768"/>
            <a:ext cx="41148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132320" y="5257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Sequence 7 you choose your specialisation: Data or Cyber pathway.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2344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377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when you are.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curiosity. We'll bring the rest.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623560" y="4069080"/>
            <a:ext cx="9144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3"/>
          <p:cNvSpPr/>
          <p:nvPr/>
        </p:nvSpPr>
        <p:spPr>
          <a:xfrm>
            <a:off x="2331720" y="4526280"/>
            <a:ext cx="731520" cy="7315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469087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5394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rigorously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035040" y="4526280"/>
            <a:ext cx="731520" cy="7315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4690872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800600" y="5394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with code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9738360" y="4526280"/>
            <a:ext cx="731520" cy="731520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2" y="4690872"/>
            <a:ext cx="411480" cy="411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503920" y="5394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choose: Data or Cyber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Zouhair El Hadiq·  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Ismail Bouisha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Mathematics  ·  DMath_CC_25  ·  ACSP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690</Words>
  <Application>Microsoft Office PowerPoint</Application>
  <PresentationFormat>Grand écran</PresentationFormat>
  <Paragraphs>113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Discrete Mathematics — First Meeting</dc:title>
  <dc:subject>PptxGenJS Presentation</dc:subject>
  <dc:creator>Zouhair El Hadiq &amp; Ismail Bouisha</dc:creator>
  <cp:lastModifiedBy>El Hadiq Zouhair</cp:lastModifiedBy>
  <cp:revision>3</cp:revision>
  <dcterms:created xsi:type="dcterms:W3CDTF">2026-05-06T20:00:54Z</dcterms:created>
  <dcterms:modified xsi:type="dcterms:W3CDTF">2026-05-06T20:04:12Z</dcterms:modified>
</cp:coreProperties>
</file>