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 Hadiq Zouhair" initials="EZ" lastIdx="1" clrIdx="0">
    <p:extLst>
      <p:ext uri="{19B8F6BF-5375-455C-9EA6-DF929625EA0E}">
        <p15:presenceInfo xmlns:p15="http://schemas.microsoft.com/office/powerpoint/2012/main" userId="eeabc8a7313699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F0D45-A366-8701-C0FC-4E7934F45662}" v="1" dt="2026-05-08T16:46:22.165"/>
    <p1510:client id="{EFD29175-0FAD-78EA-358B-898EEFC90C09}" v="44" dt="2026-05-08T13:19:03.7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07T22:54:37.484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860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comments" Target="../comments/comment1.xml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1645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FIRST-MEETING ORIENTATION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Discrete Mathematics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3154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for Computer Science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73152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Pr. Ismail Bouishak &amp; Pr. Zouhair El Hadiq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49560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of Mathematics &amp; Computer Science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— let's set the stage for the semester.</a:t>
            </a:r>
            <a:endParaRPr lang="en-US" sz="12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4E21E16F-87FB-9349-1F10-B43998F2C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899611"/>
            <a:ext cx="4937760" cy="3291840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E4CB8103-F97B-D88A-D417-F83BA95772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6240" y="199148"/>
            <a:ext cx="3051710" cy="10444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your professors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3152" cy="40233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960120" y="2240280"/>
            <a:ext cx="914400" cy="9144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5"/>
          <p:cNvSpPr/>
          <p:nvPr/>
        </p:nvSpPr>
        <p:spPr>
          <a:xfrm>
            <a:off x="210312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Ismail Bouishak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1031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— Discrete Math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60120" y="3520440"/>
            <a:ext cx="4434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1" name="Text 8"/>
          <p:cNvSpPr/>
          <p:nvPr/>
        </p:nvSpPr>
        <p:spPr>
          <a:xfrm>
            <a:off x="960120" y="37033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Agrégé In Mathematics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Engineer of ENIM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in Mathematics teaching @ CPGE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fr-MA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Ismail.BOUISHAK@um6p.ma</a:t>
            </a:r>
            <a:endParaRPr lang="en-US" sz="14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600"/>
              </a:spcAft>
              <a:buSzPct val="100000"/>
            </a:pP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55080" y="1828800"/>
            <a:ext cx="5257800" cy="4023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Shape 10"/>
          <p:cNvSpPr/>
          <p:nvPr/>
        </p:nvSpPr>
        <p:spPr>
          <a:xfrm>
            <a:off x="6355080" y="1828800"/>
            <a:ext cx="73152" cy="40233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4" name="Shape 11"/>
          <p:cNvSpPr/>
          <p:nvPr/>
        </p:nvSpPr>
        <p:spPr>
          <a:xfrm>
            <a:off x="6766560" y="2240280"/>
            <a:ext cx="914400" cy="91440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  <p:txBody>
          <a:bodyPr/>
          <a:lstStyle/>
          <a:p>
            <a:endParaRPr lang="fr-MA"/>
          </a:p>
        </p:txBody>
      </p:sp>
      <p:sp>
        <p:nvSpPr>
          <p:cNvPr id="16" name="Text 12"/>
          <p:cNvSpPr/>
          <p:nvPr/>
        </p:nvSpPr>
        <p:spPr>
          <a:xfrm>
            <a:off x="7909560" y="22860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Georgia" pitchFamily="34" charset="0"/>
              </a:rPr>
              <a:t>El Hadiq Zouhair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790956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— CS &amp; Discrete Math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766560" y="3520440"/>
            <a:ext cx="44348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9" name="Text 15"/>
          <p:cNvSpPr/>
          <p:nvPr/>
        </p:nvSpPr>
        <p:spPr>
          <a:xfrm>
            <a:off x="6766560" y="37033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Agrégé In Computer Science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And Scientific computer engineer of  EMI.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 in computer science teaching @ CPGE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zouhairelhadiq@cpgeacademy.org</a:t>
            </a:r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7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instructors, one shared course — feel free to reach out to either of us.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ACSP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discrete math is the language of 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are discrete machines: bits, states, and steps. Discrete mathematics gives you the vocabulary and tools to reason about them rigorously — before you write a single line of code.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178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4178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640080" cy="640080"/>
          </a:xfrm>
          <a:prstGeom prst="ellipse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80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78892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Algorithms &amp; Complexity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520440"/>
            <a:ext cx="47777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correctness and efficiency. Big-O, recursion, induction.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95060" y="2423160"/>
            <a:ext cx="54178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Shape 9"/>
          <p:cNvSpPr/>
          <p:nvPr/>
        </p:nvSpPr>
        <p:spPr>
          <a:xfrm>
            <a:off x="6195060" y="2423160"/>
            <a:ext cx="54178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Shape 10"/>
          <p:cNvSpPr/>
          <p:nvPr/>
        </p:nvSpPr>
        <p:spPr>
          <a:xfrm>
            <a:off x="6515100" y="2743200"/>
            <a:ext cx="640080" cy="640080"/>
          </a:xfrm>
          <a:prstGeom prst="ellipse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28803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92340" y="278892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 &amp; Verification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515100" y="3520440"/>
            <a:ext cx="47777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logic powers circuits and proofs.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4366260"/>
            <a:ext cx="54178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8" name="Shape 14"/>
          <p:cNvSpPr/>
          <p:nvPr/>
        </p:nvSpPr>
        <p:spPr>
          <a:xfrm>
            <a:off x="548640" y="4366260"/>
            <a:ext cx="54178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9" name="Shape 15"/>
          <p:cNvSpPr/>
          <p:nvPr/>
        </p:nvSpPr>
        <p:spPr>
          <a:xfrm>
            <a:off x="868680" y="4686300"/>
            <a:ext cx="640080" cy="640080"/>
          </a:xfrm>
          <a:prstGeom prst="ellipse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2346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73202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 &amp; Networks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68680" y="5463540"/>
            <a:ext cx="47777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web, social graphs, routing, and dependencies.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195060" y="4366260"/>
            <a:ext cx="5417820" cy="1714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24" name="Shape 19"/>
          <p:cNvSpPr/>
          <p:nvPr/>
        </p:nvSpPr>
        <p:spPr>
          <a:xfrm>
            <a:off x="6195060" y="4366260"/>
            <a:ext cx="54178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5" name="Shape 20"/>
          <p:cNvSpPr/>
          <p:nvPr/>
        </p:nvSpPr>
        <p:spPr>
          <a:xfrm>
            <a:off x="6515100" y="4686300"/>
            <a:ext cx="640080" cy="640080"/>
          </a:xfrm>
          <a:prstGeom prst="ellipse">
            <a:avLst/>
          </a:prstGeom>
          <a:solidFill>
            <a:srgbClr val="ECFEFF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482346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92340" y="4732020"/>
            <a:ext cx="4229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Cryptography &amp; Security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6515100" y="5463540"/>
            <a:ext cx="477774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arithmetic, number theory and combinatorics under the hood.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0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ACSP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ROADMAP — </a:t>
            </a:r>
            <a:r>
              <a:rPr lang="en-US" sz="1100" b="1" kern="0" spc="400" dirty="0" err="1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sequences across the module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889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9659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of Logic — Part 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3108960"/>
            <a:ext cx="320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Propositions, logical connectives and equivalences.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56432" y="1691640"/>
            <a:ext cx="27889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1" name="Text 8"/>
          <p:cNvSpPr/>
          <p:nvPr/>
        </p:nvSpPr>
        <p:spPr>
          <a:xfrm>
            <a:off x="3730752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9552" y="19659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 of Logic — Part 2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730752" y="3108960"/>
            <a:ext cx="320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5" name="Text 11"/>
          <p:cNvSpPr/>
          <p:nvPr/>
        </p:nvSpPr>
        <p:spPr>
          <a:xfrm>
            <a:off x="3730752" y="3200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 logic, quantifiers and rules of inference.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364224" y="1691640"/>
            <a:ext cx="27889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7" name="Text 13"/>
          <p:cNvSpPr/>
          <p:nvPr/>
        </p:nvSpPr>
        <p:spPr>
          <a:xfrm>
            <a:off x="6638544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19659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38544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Discrete Structures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638544" y="3108960"/>
            <a:ext cx="320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1" name="Text 16"/>
          <p:cNvSpPr/>
          <p:nvPr/>
        </p:nvSpPr>
        <p:spPr>
          <a:xfrm>
            <a:off x="6638544" y="3200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Sets, relations, functions, sequences and series.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272016" y="1691640"/>
            <a:ext cx="27889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3" name="Text 18"/>
          <p:cNvSpPr/>
          <p:nvPr/>
        </p:nvSpPr>
        <p:spPr>
          <a:xfrm>
            <a:off x="9546336" y="1920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75136" y="196596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546336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Proofs &amp; Recursion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9546336" y="3108960"/>
            <a:ext cx="320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7" name="Text 21"/>
          <p:cNvSpPr/>
          <p:nvPr/>
        </p:nvSpPr>
        <p:spPr>
          <a:xfrm>
            <a:off x="9546336" y="3200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techniques, induction, recursive definitions.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2002536" y="4096512"/>
            <a:ext cx="27889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Text 23"/>
          <p:cNvSpPr/>
          <p:nvPr/>
        </p:nvSpPr>
        <p:spPr>
          <a:xfrm>
            <a:off x="2276856" y="4325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2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5656" y="4370832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2276856" y="48737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Counting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2276856" y="5513832"/>
            <a:ext cx="320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3" name="Text 26"/>
          <p:cNvSpPr/>
          <p:nvPr/>
        </p:nvSpPr>
        <p:spPr>
          <a:xfrm>
            <a:off x="2276856" y="56052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Permutations, combinations, binomial identities.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910328" y="4096512"/>
            <a:ext cx="27889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5" name="Text 28"/>
          <p:cNvSpPr/>
          <p:nvPr/>
        </p:nvSpPr>
        <p:spPr>
          <a:xfrm>
            <a:off x="5184648" y="4325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2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3448" y="4370832"/>
            <a:ext cx="411480" cy="4114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184648" y="48737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 — Part 1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5184648" y="5513832"/>
            <a:ext cx="320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39" name="Text 31"/>
          <p:cNvSpPr/>
          <p:nvPr/>
        </p:nvSpPr>
        <p:spPr>
          <a:xfrm>
            <a:off x="5184648" y="56052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Vertices, edges, special graphs and properties.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7818120" y="4096512"/>
            <a:ext cx="278892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1" name="Text 33"/>
          <p:cNvSpPr/>
          <p:nvPr/>
        </p:nvSpPr>
        <p:spPr>
          <a:xfrm>
            <a:off x="8092440" y="4325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2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240" y="4370832"/>
            <a:ext cx="411480" cy="4114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8092440" y="48737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 — Part 2</a:t>
            </a:r>
            <a:endParaRPr lang="en-US" sz="1400" dirty="0"/>
          </a:p>
        </p:txBody>
      </p:sp>
      <p:sp>
        <p:nvSpPr>
          <p:cNvPr id="44" name="Shape 35"/>
          <p:cNvSpPr/>
          <p:nvPr/>
        </p:nvSpPr>
        <p:spPr>
          <a:xfrm>
            <a:off x="8092440" y="5513832"/>
            <a:ext cx="32004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45" name="Text 36"/>
          <p:cNvSpPr/>
          <p:nvPr/>
        </p:nvSpPr>
        <p:spPr>
          <a:xfrm>
            <a:off x="8092440" y="560527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Isomorphism, shortest paths, TSP &amp; Chinese Postman.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7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ACSP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WE WILL USE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theory to working code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move between blackboard math and live code. Every concept we prove, we will also try to compute, simulate, or visualize.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35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3568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2860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6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280" y="3063240"/>
            <a:ext cx="91440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411480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readable language used everywhere in modern computing — our default playground.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312920" y="2286000"/>
            <a:ext cx="3535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2" name="Shape 8"/>
          <p:cNvSpPr/>
          <p:nvPr/>
        </p:nvSpPr>
        <p:spPr>
          <a:xfrm>
            <a:off x="4312920" y="2286000"/>
            <a:ext cx="353568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7240" y="23774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53000" y="22860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SymPy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063240"/>
            <a:ext cx="914400" cy="9144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87240" y="411480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math in Python: simplification, equations, modular arithmetic, combinatorics.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077200" y="2286000"/>
            <a:ext cx="35356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MA"/>
          </a:p>
        </p:txBody>
      </p:sp>
      <p:sp>
        <p:nvSpPr>
          <p:cNvPr id="18" name="Shape 12"/>
          <p:cNvSpPr/>
          <p:nvPr/>
        </p:nvSpPr>
        <p:spPr>
          <a:xfrm>
            <a:off x="8077200" y="2286000"/>
            <a:ext cx="3535680" cy="4572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1520" y="237744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17280" y="2286000"/>
            <a:ext cx="280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Jupyter Notebooks</a:t>
            </a:r>
            <a:endParaRPr lang="en-US" sz="16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7840" y="3063240"/>
            <a:ext cx="914400" cy="9144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351520" y="411480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code, math (LaTeX), and explanations in a single document — perfect for our exercises.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solidFill>
            <a:srgbClr val="ECFEFF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440680"/>
            <a:ext cx="457200" cy="4572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71600" y="5349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combo?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1371600" y="56692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mirrors how a modern engineer or researcher actually works: write the proof, run the simulation, share the notebook.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8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ACSP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SEQUENCE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weekly rhythm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· Read · Practice · Apply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sequence follows the same four-step pattern. Lab assignments are Jupyter notebooks — you submit the .ipynb file before the deadline.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89864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lecture video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304495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unit opens with a short video introducing the concept.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6758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520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lecture notes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88720" y="38221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notes with examples and worked exercises.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45312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4297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the unit quiz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88720" y="45994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auto-graded quiz to reinforce your understanding.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23036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5074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the Lab (.ipynb)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188720" y="53766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lab notebook in Python / SymPy and upload before the deadline.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766560" y="1691640"/>
            <a:ext cx="4846320" cy="42062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3" name="Shape 17"/>
          <p:cNvSpPr/>
          <p:nvPr/>
        </p:nvSpPr>
        <p:spPr>
          <a:xfrm>
            <a:off x="6766560" y="1691640"/>
            <a:ext cx="48463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4" name="Text 18"/>
          <p:cNvSpPr/>
          <p:nvPr/>
        </p:nvSpPr>
        <p:spPr>
          <a:xfrm>
            <a:off x="7132320" y="19659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Grading at a glance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13232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— final weighting will be confirmed.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13232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assignments (.ipynb)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33272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22D3EE"/>
                </a:solidFill>
                <a:latin typeface="Georgia"/>
                <a:ea typeface="Georgia" pitchFamily="34" charset="-122"/>
                <a:cs typeface="Georgia" pitchFamily="34" charset="-120"/>
              </a:rPr>
              <a:t>20%</a:t>
            </a:r>
            <a:endParaRPr lang="en-US" sz="1400">
              <a:latin typeface="Georgia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7132320" y="3218688"/>
            <a:ext cx="4114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29" name="Text 23"/>
          <p:cNvSpPr/>
          <p:nvPr/>
        </p:nvSpPr>
        <p:spPr>
          <a:xfrm>
            <a:off x="713232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FFFFFF"/>
                </a:solidFill>
                <a:ea typeface="Calibri"/>
                <a:cs typeface="Calibri"/>
              </a:rPr>
              <a:t>Miterm</a:t>
            </a:r>
            <a:r>
              <a:rPr lang="en-US" sz="1300" dirty="0">
                <a:solidFill>
                  <a:srgbClr val="FFFFFF"/>
                </a:solidFill>
                <a:ea typeface="Calibri"/>
                <a:cs typeface="Calibri"/>
              </a:rPr>
              <a:t> exam</a:t>
            </a:r>
          </a:p>
        </p:txBody>
      </p:sp>
      <p:sp>
        <p:nvSpPr>
          <p:cNvPr id="30" name="Text 24"/>
          <p:cNvSpPr/>
          <p:nvPr/>
        </p:nvSpPr>
        <p:spPr>
          <a:xfrm>
            <a:off x="10332720" y="34290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22D3EE"/>
                </a:solidFill>
                <a:latin typeface="Georgia"/>
                <a:ea typeface="Georgia" pitchFamily="34" charset="-122"/>
                <a:cs typeface="Georgia" pitchFamily="34" charset="-120"/>
              </a:rPr>
              <a:t>30%</a:t>
            </a:r>
            <a:endParaRPr lang="en-US" sz="1400">
              <a:latin typeface="Georgia"/>
            </a:endParaRPr>
          </a:p>
        </p:txBody>
      </p:sp>
      <p:sp>
        <p:nvSpPr>
          <p:cNvPr id="31" name="Shape 25"/>
          <p:cNvSpPr/>
          <p:nvPr/>
        </p:nvSpPr>
        <p:spPr>
          <a:xfrm>
            <a:off x="7132320" y="3813048"/>
            <a:ext cx="4114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2" name="Text 26"/>
          <p:cNvSpPr/>
          <p:nvPr/>
        </p:nvSpPr>
        <p:spPr>
          <a:xfrm>
            <a:off x="713232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exam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033272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22D3EE"/>
                </a:solidFill>
                <a:latin typeface="Georgia"/>
                <a:ea typeface="Georgia" pitchFamily="34" charset="-122"/>
                <a:cs typeface="Georgia" pitchFamily="34" charset="-120"/>
              </a:rPr>
              <a:t>30%</a:t>
            </a:r>
            <a:endParaRPr lang="en-US" sz="1400">
              <a:latin typeface="Georgia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7132320" y="4407408"/>
            <a:ext cx="4114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5" name="Text 29"/>
          <p:cNvSpPr/>
          <p:nvPr/>
        </p:nvSpPr>
        <p:spPr>
          <a:xfrm>
            <a:off x="7132320" y="4617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Paresentation</a:t>
            </a:r>
            <a:endParaRPr lang="en-US" sz="1300" dirty="0" err="1"/>
          </a:p>
        </p:txBody>
      </p:sp>
      <p:sp>
        <p:nvSpPr>
          <p:cNvPr id="36" name="Text 30"/>
          <p:cNvSpPr/>
          <p:nvPr/>
        </p:nvSpPr>
        <p:spPr>
          <a:xfrm>
            <a:off x="10332720" y="4617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>
                <a:solidFill>
                  <a:srgbClr val="22D3EE"/>
                </a:solidFill>
                <a:latin typeface="Georgia"/>
                <a:ea typeface="Georgia" pitchFamily="34" charset="-122"/>
                <a:cs typeface="Georgia" pitchFamily="34" charset="-120"/>
              </a:rPr>
              <a:t>20%</a:t>
            </a:r>
            <a:endParaRPr lang="en-US" sz="1400">
              <a:latin typeface="Georgia"/>
            </a:endParaRPr>
          </a:p>
        </p:txBody>
      </p:sp>
      <p:sp>
        <p:nvSpPr>
          <p:cNvPr id="37" name="Shape 31"/>
          <p:cNvSpPr/>
          <p:nvPr/>
        </p:nvSpPr>
        <p:spPr>
          <a:xfrm>
            <a:off x="7132320" y="5001768"/>
            <a:ext cx="41148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39" name="Shape 3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0" name="Text 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</a:t>
            </a:r>
            <a:r>
              <a:rPr lang="en-US" sz="9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DMath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ACSP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2344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when you are.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your curiosity. We'll bring the rest.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623560" y="4069080"/>
            <a:ext cx="9144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6" name="Shape 3"/>
          <p:cNvSpPr/>
          <p:nvPr/>
        </p:nvSpPr>
        <p:spPr>
          <a:xfrm>
            <a:off x="2331720" y="452628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469087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 rigorously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035040" y="452628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4690872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0060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with code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9738360" y="4526280"/>
            <a:ext cx="731520" cy="7315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fr-MA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2952" y="4690872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03920" y="5394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choose: Data or Cyber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Zouhair El Hadiq·   Ismail Bouishakk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 ·  </a:t>
            </a:r>
            <a:r>
              <a:rPr lang="en-US" sz="1000" kern="0" spc="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DMath</a:t>
            </a:r>
            <a:r>
              <a:rPr lang="en-US" sz="10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ACSP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653</Words>
  <Application>Microsoft Office PowerPoint</Application>
  <PresentationFormat>Grand écran</PresentationFormat>
  <Paragraphs>113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— First Meeting</dc:title>
  <dc:subject>PptxGenJS Presentation</dc:subject>
  <dc:creator>Zouhair El Hadiq &amp; Ismail Bouisha</dc:creator>
  <cp:lastModifiedBy>El Hadiq Zouhair</cp:lastModifiedBy>
  <cp:revision>50</cp:revision>
  <dcterms:created xsi:type="dcterms:W3CDTF">2026-05-06T20:00:54Z</dcterms:created>
  <dcterms:modified xsi:type="dcterms:W3CDTF">2026-05-08T17:00:21Z</dcterms:modified>
</cp:coreProperties>
</file>